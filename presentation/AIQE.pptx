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60" r:id="rId5"/>
    <p:sldId id="258" r:id="rId6"/>
    <p:sldId id="263" r:id="rId7"/>
    <p:sldId id="264" r:id="rId8"/>
    <p:sldId id="265" r:id="rId9"/>
    <p:sldId id="266" r:id="rId10"/>
    <p:sldId id="269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1" autoAdjust="0"/>
    <p:restoredTop sz="94660"/>
  </p:normalViewPr>
  <p:slideViewPr>
    <p:cSldViewPr snapToGrid="0">
      <p:cViewPr>
        <p:scale>
          <a:sx n="100" d="100"/>
          <a:sy n="100" d="100"/>
        </p:scale>
        <p:origin x="70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A993-058C-45D0-8AD7-712E6EE0F3B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68ADB-6A79-4969-B6F0-79A9493F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3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A993-058C-45D0-8AD7-712E6EE0F3B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68ADB-6A79-4969-B6F0-79A9493F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6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A993-058C-45D0-8AD7-712E6EE0F3B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68ADB-6A79-4969-B6F0-79A9493F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2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A993-058C-45D0-8AD7-712E6EE0F3B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68ADB-6A79-4969-B6F0-79A9493F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A993-058C-45D0-8AD7-712E6EE0F3B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68ADB-6A79-4969-B6F0-79A9493F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5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A993-058C-45D0-8AD7-712E6EE0F3B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68ADB-6A79-4969-B6F0-79A9493F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6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A993-058C-45D0-8AD7-712E6EE0F3B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68ADB-6A79-4969-B6F0-79A9493F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3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A993-058C-45D0-8AD7-712E6EE0F3B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68ADB-6A79-4969-B6F0-79A9493F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0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A993-058C-45D0-8AD7-712E6EE0F3B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68ADB-6A79-4969-B6F0-79A9493F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59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A993-058C-45D0-8AD7-712E6EE0F3B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68ADB-6A79-4969-B6F0-79A9493F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7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A993-058C-45D0-8AD7-712E6EE0F3B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68ADB-6A79-4969-B6F0-79A9493F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4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0A993-058C-45D0-8AD7-712E6EE0F3B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68ADB-6A79-4969-B6F0-79A9493F7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436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wright.dev/mcp/introduction" TargetMode="External"/><Relationship Id="rId2" Type="http://schemas.openxmlformats.org/officeDocument/2006/relationships/hyperlink" Target="https://playwright.dev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aywright.dev/agent-cli/introduction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C538-6A9F-A7D6-1F21-C89CC5928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AIQE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E104F-6C73-4736-7B1F-08107609A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US" dirty="0"/>
              <a:t>Rohan Patil</a:t>
            </a:r>
          </a:p>
        </p:txBody>
      </p:sp>
    </p:spTree>
    <p:extLst>
      <p:ext uri="{BB962C8B-B14F-4D97-AF65-F5344CB8AC3E}">
        <p14:creationId xmlns:p14="http://schemas.microsoft.com/office/powerpoint/2010/main" val="3666099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C538-6A9F-A7D6-1F21-C89CC59282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4 Steps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E104F-6C73-4736-7B1F-08107609A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US" dirty="0">
                <a:solidFill>
                  <a:schemeClr val="accent4"/>
                </a:solidFill>
              </a:rPr>
              <a:t>Explore </a:t>
            </a:r>
            <a:r>
              <a:rPr lang="en-US" sz="2000" dirty="0">
                <a:solidFill>
                  <a:schemeClr val="accent4"/>
                </a:solidFill>
              </a:rPr>
              <a:t> &gt;</a:t>
            </a:r>
            <a:r>
              <a:rPr lang="en-US" dirty="0">
                <a:solidFill>
                  <a:schemeClr val="accent4"/>
                </a:solidFill>
              </a:rPr>
              <a:t>  Plan  </a:t>
            </a:r>
            <a:r>
              <a:rPr lang="en-US" sz="2000" dirty="0">
                <a:solidFill>
                  <a:schemeClr val="accent4"/>
                </a:solidFill>
              </a:rPr>
              <a:t>&gt;</a:t>
            </a:r>
            <a:r>
              <a:rPr lang="en-US" dirty="0">
                <a:solidFill>
                  <a:schemeClr val="accent4"/>
                </a:solidFill>
              </a:rPr>
              <a:t>  Prepare  </a:t>
            </a:r>
            <a:r>
              <a:rPr lang="en-US" sz="2000" dirty="0">
                <a:solidFill>
                  <a:schemeClr val="accent4"/>
                </a:solidFill>
              </a:rPr>
              <a:t>&gt;</a:t>
            </a:r>
            <a:r>
              <a:rPr lang="en-US" dirty="0">
                <a:solidFill>
                  <a:schemeClr val="accent4"/>
                </a:solidFill>
              </a:rPr>
              <a:t>  Automate</a:t>
            </a:r>
          </a:p>
        </p:txBody>
      </p:sp>
    </p:spTree>
    <p:extLst>
      <p:ext uri="{BB962C8B-B14F-4D97-AF65-F5344CB8AC3E}">
        <p14:creationId xmlns:p14="http://schemas.microsoft.com/office/powerpoint/2010/main" val="1468484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7DE684-4915-7F7C-3A69-DD932ABF9649}"/>
              </a:ext>
            </a:extLst>
          </p:cNvPr>
          <p:cNvSpPr/>
          <p:nvPr/>
        </p:nvSpPr>
        <p:spPr>
          <a:xfrm>
            <a:off x="623206" y="1311275"/>
            <a:ext cx="4891769" cy="3708400"/>
          </a:xfrm>
          <a:prstGeom prst="roundRect">
            <a:avLst>
              <a:gd name="adj" fmla="val 10583"/>
            </a:avLst>
          </a:prstGeom>
          <a:solidFill>
            <a:schemeClr val="bg1">
              <a:lumMod val="75000"/>
              <a:lumOff val="2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F5CA3-276A-E5C5-8C29-D4F5E641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475" y="1673491"/>
            <a:ext cx="2638425" cy="963236"/>
          </a:xfrm>
        </p:spPr>
        <p:txBody>
          <a:bodyPr/>
          <a:lstStyle/>
          <a:p>
            <a:r>
              <a:rPr lang="en-US" dirty="0"/>
              <a:t>Explore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A9FCC-120B-9694-FB8B-5BC568B97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83" y="2998943"/>
            <a:ext cx="4529317" cy="2097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AI explores the application to gain contextual knowledge.</a:t>
            </a:r>
          </a:p>
          <a:p>
            <a:pPr marL="0" indent="0">
              <a:buNone/>
            </a:pPr>
            <a:r>
              <a:rPr lang="en-US" sz="2400" dirty="0"/>
              <a:t>Business Requirements =&gt; context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3D3A3B-DE3A-FEBE-D62E-877198710166}"/>
              </a:ext>
            </a:extLst>
          </p:cNvPr>
          <p:cNvSpPr/>
          <p:nvPr/>
        </p:nvSpPr>
        <p:spPr>
          <a:xfrm>
            <a:off x="389467" y="149941"/>
            <a:ext cx="11633200" cy="13580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195133-A70F-D91B-373F-83DF89B25559}"/>
              </a:ext>
            </a:extLst>
          </p:cNvPr>
          <p:cNvSpPr/>
          <p:nvPr/>
        </p:nvSpPr>
        <p:spPr>
          <a:xfrm>
            <a:off x="6568169" y="1311275"/>
            <a:ext cx="4891769" cy="3708400"/>
          </a:xfrm>
          <a:prstGeom prst="roundRect">
            <a:avLst>
              <a:gd name="adj" fmla="val 9299"/>
            </a:avLst>
          </a:prstGeom>
          <a:solidFill>
            <a:schemeClr val="bg1">
              <a:lumMod val="75000"/>
              <a:lumOff val="2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979C236-1E99-188E-0CB5-764474675E96}"/>
              </a:ext>
            </a:extLst>
          </p:cNvPr>
          <p:cNvSpPr txBox="1">
            <a:spLocks/>
          </p:cNvSpPr>
          <p:nvPr/>
        </p:nvSpPr>
        <p:spPr>
          <a:xfrm>
            <a:off x="8221438" y="1673491"/>
            <a:ext cx="2638425" cy="96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Plan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429696D-D518-67D7-C3C1-32BBC3DFA7B4}"/>
              </a:ext>
            </a:extLst>
          </p:cNvPr>
          <p:cNvSpPr txBox="1">
            <a:spLocks/>
          </p:cNvSpPr>
          <p:nvPr/>
        </p:nvSpPr>
        <p:spPr>
          <a:xfrm>
            <a:off x="6749646" y="2998943"/>
            <a:ext cx="4529317" cy="155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AI helps to craft comprehensive Test plan listing all features &amp; scenarios</a:t>
            </a:r>
          </a:p>
        </p:txBody>
      </p:sp>
      <p:pic>
        <p:nvPicPr>
          <p:cNvPr id="15" name="Content Placeholder 6">
            <a:extLst>
              <a:ext uri="{FF2B5EF4-FFF2-40B4-BE49-F238E27FC236}">
                <a16:creationId xmlns:a16="http://schemas.microsoft.com/office/drawing/2014/main" id="{E977AC0A-7C7E-9217-EAAA-8F4D6650E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159" y="1723969"/>
            <a:ext cx="862279" cy="8622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91F3C3-8F2B-680F-AA77-45B6423DC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566" y="1632977"/>
            <a:ext cx="973667" cy="97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10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3D3A3B-DE3A-FEBE-D62E-877198710166}"/>
              </a:ext>
            </a:extLst>
          </p:cNvPr>
          <p:cNvSpPr/>
          <p:nvPr/>
        </p:nvSpPr>
        <p:spPr>
          <a:xfrm>
            <a:off x="389467" y="135202"/>
            <a:ext cx="11633200" cy="13546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680675-AB5E-8C0C-456B-81E714A01B20}"/>
              </a:ext>
            </a:extLst>
          </p:cNvPr>
          <p:cNvSpPr/>
          <p:nvPr/>
        </p:nvSpPr>
        <p:spPr>
          <a:xfrm>
            <a:off x="623206" y="1311275"/>
            <a:ext cx="4891769" cy="3679825"/>
          </a:xfrm>
          <a:prstGeom prst="roundRect">
            <a:avLst>
              <a:gd name="adj" fmla="val 10583"/>
            </a:avLst>
          </a:prstGeom>
          <a:solidFill>
            <a:schemeClr val="bg1">
              <a:lumMod val="75000"/>
              <a:lumOff val="2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3975CE4-25D7-1BA7-E1C4-99444689A520}"/>
              </a:ext>
            </a:extLst>
          </p:cNvPr>
          <p:cNvSpPr txBox="1">
            <a:spLocks/>
          </p:cNvSpPr>
          <p:nvPr/>
        </p:nvSpPr>
        <p:spPr>
          <a:xfrm>
            <a:off x="2143125" y="1610654"/>
            <a:ext cx="2638425" cy="96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Prepare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B5DDB72-4AA4-74E0-8D44-9001B7EF2AF5}"/>
              </a:ext>
            </a:extLst>
          </p:cNvPr>
          <p:cNvSpPr txBox="1">
            <a:spLocks/>
          </p:cNvSpPr>
          <p:nvPr/>
        </p:nvSpPr>
        <p:spPr>
          <a:xfrm>
            <a:off x="804683" y="2998943"/>
            <a:ext cx="4529317" cy="1744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Test Plan can be used to prepare list of Test Cases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BD97C2-98EE-DAE2-2873-9085F7689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357" y="1705904"/>
            <a:ext cx="772736" cy="772736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4CF4FE-CB5E-BE42-8A32-0796CEE53E3F}"/>
              </a:ext>
            </a:extLst>
          </p:cNvPr>
          <p:cNvSpPr/>
          <p:nvPr/>
        </p:nvSpPr>
        <p:spPr>
          <a:xfrm>
            <a:off x="6709681" y="1311275"/>
            <a:ext cx="4891769" cy="3873234"/>
          </a:xfrm>
          <a:prstGeom prst="roundRect">
            <a:avLst>
              <a:gd name="adj" fmla="val 10583"/>
            </a:avLst>
          </a:prstGeom>
          <a:solidFill>
            <a:schemeClr val="bg1">
              <a:lumMod val="75000"/>
              <a:lumOff val="25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EF2CA9E-3E4E-EACC-E794-A44291851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950" y="1673491"/>
            <a:ext cx="2638425" cy="963236"/>
          </a:xfrm>
        </p:spPr>
        <p:txBody>
          <a:bodyPr/>
          <a:lstStyle/>
          <a:p>
            <a:r>
              <a:rPr lang="en-US" dirty="0"/>
              <a:t>Automate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F62C1A4-DA45-89EE-90C8-07CB1E669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1158" y="2998943"/>
            <a:ext cx="4529317" cy="15635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AI uses the testcases &amp; Playwright CLI to write test automation scripts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42E66FC-898C-4EFC-B7A2-14471EF42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208" y="1705904"/>
            <a:ext cx="867986" cy="86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16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FF29-DBC4-E946-D33F-A6A359D0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 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9E86C6-8D57-400B-15B2-9541DC095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800"/>
            <a:ext cx="10515600" cy="1727200"/>
          </a:xfrm>
        </p:spPr>
        <p:txBody>
          <a:bodyPr>
            <a:normAutofit/>
          </a:bodyPr>
          <a:lstStyle/>
          <a:p>
            <a:r>
              <a:rPr lang="en-GB" sz="2000" b="0" dirty="0">
                <a:solidFill>
                  <a:srgbClr val="CCCCC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Context Protocol — lets AI directly connect to &amp; control a browser using pre-built tools. After EVERY action, the browser sends AI the ENTIRE page state.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MCP is powerful but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expensive on context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it less practical for agents already handling large codebases or frequent browser interactions.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644BFC-9A1C-6239-D8A6-0339F8A8EE3E}"/>
              </a:ext>
            </a:extLst>
          </p:cNvPr>
          <p:cNvSpPr txBox="1"/>
          <p:nvPr/>
        </p:nvSpPr>
        <p:spPr>
          <a:xfrm>
            <a:off x="1114425" y="3533775"/>
            <a:ext cx="5753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CCCCCC"/>
                </a:solidFill>
                <a:effectLst/>
              </a:rPr>
              <a:t>Token Cost Per Action:</a:t>
            </a:r>
          </a:p>
          <a:p>
            <a:br>
              <a:rPr lang="en-US" b="0" dirty="0">
                <a:solidFill>
                  <a:srgbClr val="CCCCCC"/>
                </a:solidFill>
                <a:effectLst/>
              </a:rPr>
            </a:br>
            <a:r>
              <a:rPr lang="en-US" b="0" dirty="0" err="1">
                <a:solidFill>
                  <a:srgbClr val="CCCCCC"/>
                </a:solidFill>
                <a:effectLst/>
              </a:rPr>
              <a:t>playwright_navigate</a:t>
            </a:r>
            <a:r>
              <a:rPr lang="en-US" b="0" dirty="0">
                <a:solidFill>
                  <a:srgbClr val="CCCCCC"/>
                </a:solidFill>
                <a:effectLst/>
              </a:rPr>
              <a:t>(</a:t>
            </a:r>
            <a:r>
              <a:rPr lang="en-US" b="0" dirty="0" err="1">
                <a:solidFill>
                  <a:srgbClr val="CCCCCC"/>
                </a:solidFill>
                <a:effectLst/>
              </a:rPr>
              <a:t>url</a:t>
            </a:r>
            <a:r>
              <a:rPr lang="en-US" b="0" dirty="0">
                <a:solidFill>
                  <a:srgbClr val="CCCCCC"/>
                </a:solidFill>
                <a:effectLst/>
              </a:rPr>
              <a:t>) → ~8,000 tokens</a:t>
            </a:r>
          </a:p>
          <a:p>
            <a:r>
              <a:rPr lang="en-US" b="0" dirty="0" err="1">
                <a:solidFill>
                  <a:srgbClr val="CCCCCC"/>
                </a:solidFill>
                <a:effectLst/>
              </a:rPr>
              <a:t>playwright_click</a:t>
            </a:r>
            <a:r>
              <a:rPr lang="en-US" b="0" dirty="0">
                <a:solidFill>
                  <a:srgbClr val="CCCCCC"/>
                </a:solidFill>
                <a:effectLst/>
              </a:rPr>
              <a:t>(selector) → ~8,000 tokens</a:t>
            </a:r>
          </a:p>
          <a:p>
            <a:r>
              <a:rPr lang="en-US" b="0" dirty="0" err="1">
                <a:solidFill>
                  <a:srgbClr val="CCCCCC"/>
                </a:solidFill>
                <a:effectLst/>
              </a:rPr>
              <a:t>playwright_get_text</a:t>
            </a:r>
            <a:r>
              <a:rPr lang="en-US" b="0" dirty="0">
                <a:solidFill>
                  <a:srgbClr val="CCCCCC"/>
                </a:solidFill>
                <a:effectLst/>
              </a:rPr>
              <a:t>() → ~8,000 tokens</a:t>
            </a:r>
          </a:p>
          <a:p>
            <a:br>
              <a:rPr lang="en-US" b="0" dirty="0">
                <a:solidFill>
                  <a:srgbClr val="CCCCCC"/>
                </a:solidFill>
                <a:effectLst/>
              </a:rPr>
            </a:br>
            <a:r>
              <a:rPr lang="en-US" b="0" dirty="0">
                <a:solidFill>
                  <a:srgbClr val="CCCCCC"/>
                </a:solidFill>
                <a:effectLst/>
              </a:rPr>
              <a:t>TOTAL for 3 actions: ~24,000 tokens</a:t>
            </a:r>
          </a:p>
          <a:p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C6E481-F1A6-D36B-39D6-8A78872889A9}"/>
              </a:ext>
            </a:extLst>
          </p:cNvPr>
          <p:cNvSpPr/>
          <p:nvPr/>
        </p:nvSpPr>
        <p:spPr>
          <a:xfrm>
            <a:off x="389467" y="135202"/>
            <a:ext cx="11633200" cy="13546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08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9432D-F2DB-4C6E-0B44-C8E01C1BC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Playwright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00514-BADF-AEED-05D3-0080A13B1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515600" cy="4662488"/>
          </a:xfrm>
        </p:spPr>
        <p:txBody>
          <a:bodyPr>
            <a:normAutofit/>
          </a:bodyPr>
          <a:lstStyle/>
          <a:p>
            <a:r>
              <a:rPr lang="en-GB" sz="1600" b="0" dirty="0">
                <a:solidFill>
                  <a:srgbClr val="CCCCCC"/>
                </a:solidFill>
                <a:effectLst/>
              </a:rPr>
              <a:t>A standalone tool by Microsoft built specifically for AI agents. </a:t>
            </a:r>
          </a:p>
          <a:p>
            <a:r>
              <a:rPr lang="en-GB" sz="1600" b="0" dirty="0">
                <a:solidFill>
                  <a:srgbClr val="CCCCCC"/>
                </a:solidFill>
                <a:effectLst/>
              </a:rPr>
              <a:t>AI writes complete scripts and runs them via command line interface. </a:t>
            </a:r>
            <a:endParaRPr lang="en-GB" sz="1400" dirty="0">
              <a:solidFill>
                <a:srgbClr val="CCCCCC"/>
              </a:solidFill>
            </a:endParaRPr>
          </a:p>
          <a:p>
            <a:r>
              <a:rPr lang="en-GB" sz="1800" b="0" dirty="0">
                <a:solidFill>
                  <a:srgbClr val="CCCCCC"/>
                </a:solidFill>
                <a:effectLst/>
              </a:rPr>
              <a:t>Token efficient</a:t>
            </a:r>
          </a:p>
          <a:p>
            <a:endParaRPr lang="en-GB" sz="1400" b="0" dirty="0">
              <a:solidFill>
                <a:srgbClr val="CCCCCC"/>
              </a:solidFill>
              <a:effectLst/>
            </a:endParaRPr>
          </a:p>
          <a:p>
            <a:endParaRPr lang="en-US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C7B3B7-E433-8EAC-7C8E-EA9CE398C702}"/>
              </a:ext>
            </a:extLst>
          </p:cNvPr>
          <p:cNvSpPr/>
          <p:nvPr/>
        </p:nvSpPr>
        <p:spPr>
          <a:xfrm>
            <a:off x="389467" y="135202"/>
            <a:ext cx="11633200" cy="13546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DA49B8-E06B-B301-0AF9-885122A0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480" y="3845718"/>
            <a:ext cx="10624509" cy="19327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04732C-F5C5-D2B7-D270-0081D988EF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2995"/>
          <a:stretch/>
        </p:blipFill>
        <p:spPr>
          <a:xfrm>
            <a:off x="8482890" y="498621"/>
            <a:ext cx="3086099" cy="296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01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9432D-F2DB-4C6E-0B44-C8E01C1B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9350"/>
          </a:xfrm>
        </p:spPr>
        <p:txBody>
          <a:bodyPr/>
          <a:lstStyle/>
          <a:p>
            <a:r>
              <a:rPr lang="en-US" dirty="0"/>
              <a:t>Skill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00514-BADF-AEED-05D3-0080A13B1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75"/>
            <a:ext cx="10515600" cy="4662488"/>
          </a:xfrm>
        </p:spPr>
        <p:txBody>
          <a:bodyPr>
            <a:noAutofit/>
          </a:bodyPr>
          <a:lstStyle/>
          <a:p>
            <a:r>
              <a:rPr lang="en-GB" sz="1600" b="0" dirty="0">
                <a:solidFill>
                  <a:srgbClr val="CCCCCC"/>
                </a:solidFill>
                <a:effectLst/>
              </a:rPr>
              <a:t>A Skill is a SKILL.md file that gives AI pre-built best practices for a specific task — before it writes a single line of code.</a:t>
            </a:r>
          </a:p>
          <a:p>
            <a:r>
              <a:rPr lang="en-GB" sz="1600" b="0" dirty="0">
                <a:solidFill>
                  <a:srgbClr val="CCCCCC"/>
                </a:solidFill>
                <a:effectLst/>
              </a:rPr>
              <a:t>Think of it as AI's instruction manual.</a:t>
            </a:r>
          </a:p>
          <a:p>
            <a:endParaRPr lang="en-GB" sz="1600" dirty="0">
              <a:solidFill>
                <a:srgbClr val="CCCCCC"/>
              </a:solidFill>
            </a:endParaRPr>
          </a:p>
          <a:p>
            <a:endParaRPr lang="en-GB" sz="1600" b="0" dirty="0">
              <a:solidFill>
                <a:srgbClr val="CCCCCC"/>
              </a:solidFill>
              <a:effectLst/>
            </a:endParaRPr>
          </a:p>
          <a:p>
            <a:endParaRPr lang="en-GB" sz="1800" dirty="0">
              <a:solidFill>
                <a:srgbClr val="CCCCCC"/>
              </a:solidFill>
            </a:endParaRPr>
          </a:p>
          <a:p>
            <a:endParaRPr lang="en-GB" sz="1400" b="0" dirty="0">
              <a:solidFill>
                <a:srgbClr val="CCCCCC"/>
              </a:solidFill>
              <a:effectLst/>
            </a:endParaRPr>
          </a:p>
          <a:p>
            <a:endParaRPr lang="en-US" sz="16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C7B3B7-E433-8EAC-7C8E-EA9CE398C702}"/>
              </a:ext>
            </a:extLst>
          </p:cNvPr>
          <p:cNvSpPr/>
          <p:nvPr/>
        </p:nvSpPr>
        <p:spPr>
          <a:xfrm>
            <a:off x="389467" y="135202"/>
            <a:ext cx="11633200" cy="13546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F8BA1C-302C-4518-2F8B-B6EB5A5A52D5}"/>
              </a:ext>
            </a:extLst>
          </p:cNvPr>
          <p:cNvSpPr txBox="1"/>
          <p:nvPr/>
        </p:nvSpPr>
        <p:spPr>
          <a:xfrm>
            <a:off x="838200" y="2425938"/>
            <a:ext cx="3175000" cy="183127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contourW="12700">
            <a:bevelT/>
            <a:contourClr>
              <a:schemeClr val="bg1">
                <a:lumMod val="85000"/>
                <a:lumOff val="15000"/>
              </a:schemeClr>
            </a:contourClr>
          </a:sp3d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effectLst/>
              </a:rPr>
              <a:t>Without skill</a:t>
            </a:r>
          </a:p>
          <a:p>
            <a:endParaRPr lang="en-GB" sz="1400" b="0" dirty="0">
              <a:solidFill>
                <a:srgbClr val="CCCCCC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GB" sz="1400" b="0" dirty="0">
                <a:solidFill>
                  <a:srgbClr val="CCCCCC"/>
                </a:solidFill>
                <a:effectLst/>
              </a:rPr>
              <a:t>AI figures it out by trial &amp; error</a:t>
            </a:r>
          </a:p>
          <a:p>
            <a:pPr>
              <a:lnSpc>
                <a:spcPct val="150000"/>
              </a:lnSpc>
            </a:pPr>
            <a:r>
              <a:rPr lang="en-GB" sz="1400" b="0" dirty="0">
                <a:solidFill>
                  <a:srgbClr val="CCCCCC"/>
                </a:solidFill>
                <a:effectLst/>
              </a:rPr>
              <a:t>Makes mistakes → uses more tokens</a:t>
            </a:r>
          </a:p>
          <a:p>
            <a:pPr>
              <a:lnSpc>
                <a:spcPct val="150000"/>
              </a:lnSpc>
            </a:pPr>
            <a:r>
              <a:rPr lang="en-GB" sz="1400" b="0" dirty="0">
                <a:solidFill>
                  <a:srgbClr val="CCCCCC"/>
                </a:solidFill>
                <a:effectLst/>
              </a:rPr>
              <a:t>Slower, unpredictable results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A20ED5-AE13-8943-4DDC-D7DC2A49D93C}"/>
              </a:ext>
            </a:extLst>
          </p:cNvPr>
          <p:cNvSpPr txBox="1"/>
          <p:nvPr/>
        </p:nvSpPr>
        <p:spPr>
          <a:xfrm>
            <a:off x="5264150" y="2236806"/>
            <a:ext cx="3308350" cy="176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br>
              <a:rPr lang="en-GB" sz="1600" b="0" dirty="0">
                <a:solidFill>
                  <a:srgbClr val="CCCCCC"/>
                </a:solidFill>
                <a:effectLst/>
              </a:rPr>
            </a:br>
            <a:r>
              <a:rPr lang="en-GB" b="0" dirty="0">
                <a:solidFill>
                  <a:srgbClr val="00B050"/>
                </a:solidFill>
                <a:effectLst/>
              </a:rPr>
              <a:t>With skill (SKILL.md)</a:t>
            </a:r>
          </a:p>
          <a:p>
            <a:pPr marL="0" indent="0">
              <a:buNone/>
            </a:pPr>
            <a:endParaRPr lang="en-GB" sz="1400" b="0" dirty="0">
              <a:solidFill>
                <a:srgbClr val="CCCCCC"/>
              </a:solidFill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400" b="0" dirty="0">
                <a:solidFill>
                  <a:srgbClr val="CCCCCC"/>
                </a:solidFill>
                <a:effectLst/>
              </a:rPr>
              <a:t>AI reads instructions FIRST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400" b="0" dirty="0">
                <a:solidFill>
                  <a:srgbClr val="CCCCCC"/>
                </a:solidFill>
                <a:effectLst/>
              </a:rPr>
              <a:t>Knows best practices immediately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400" b="0" dirty="0">
                <a:solidFill>
                  <a:srgbClr val="CCCCCC"/>
                </a:solidFill>
                <a:effectLst/>
              </a:rPr>
              <a:t>Right approach, first try, fewer tokens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343247-2E2A-4016-3E4E-10A1ABA1CF6D}"/>
              </a:ext>
            </a:extLst>
          </p:cNvPr>
          <p:cNvSpPr txBox="1"/>
          <p:nvPr/>
        </p:nvSpPr>
        <p:spPr>
          <a:xfrm>
            <a:off x="637116" y="4976634"/>
            <a:ext cx="7681383" cy="1597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0" dirty="0">
                <a:solidFill>
                  <a:srgbClr val="CCCCCC"/>
                </a:solidFill>
                <a:effectLst/>
              </a:rPr>
              <a:t>The Playwright-CLI Skill tells AI to:</a:t>
            </a:r>
          </a:p>
          <a:p>
            <a:pPr lvl="1">
              <a:lnSpc>
                <a:spcPct val="150000"/>
              </a:lnSpc>
            </a:pPr>
            <a:r>
              <a:rPr lang="en-GB" sz="1400" b="0" dirty="0">
                <a:solidFill>
                  <a:srgbClr val="CCCCCC"/>
                </a:solidFill>
                <a:effectLst/>
              </a:rPr>
              <a:t>1. Use CLI commands, not MCP</a:t>
            </a:r>
          </a:p>
          <a:p>
            <a:pPr lvl="1">
              <a:lnSpc>
                <a:spcPct val="150000"/>
              </a:lnSpc>
            </a:pPr>
            <a:r>
              <a:rPr lang="en-GB" sz="1400" dirty="0">
                <a:solidFill>
                  <a:srgbClr val="CCCCCC"/>
                </a:solidFill>
              </a:rPr>
              <a:t>2. </a:t>
            </a:r>
            <a:r>
              <a:rPr lang="en-GB" sz="1400" b="0" dirty="0">
                <a:solidFill>
                  <a:srgbClr val="CCCCCC"/>
                </a:solidFill>
                <a:effectLst/>
              </a:rPr>
              <a:t>Batch all actions in one script</a:t>
            </a:r>
          </a:p>
          <a:p>
            <a:pPr lvl="1">
              <a:lnSpc>
                <a:spcPct val="150000"/>
              </a:lnSpc>
            </a:pPr>
            <a:r>
              <a:rPr lang="en-GB" sz="1400" dirty="0">
                <a:solidFill>
                  <a:srgbClr val="CCCCCC"/>
                </a:solidFill>
              </a:rPr>
              <a:t>3. </a:t>
            </a:r>
            <a:r>
              <a:rPr lang="en-GB" sz="1400" b="0" dirty="0">
                <a:solidFill>
                  <a:srgbClr val="CCCCCC"/>
                </a:solidFill>
                <a:effectLst/>
              </a:rPr>
              <a:t>Be surgical — only extract what’s needed</a:t>
            </a:r>
          </a:p>
          <a:p>
            <a:pPr lvl="1">
              <a:lnSpc>
                <a:spcPct val="150000"/>
              </a:lnSpc>
            </a:pPr>
            <a:r>
              <a:rPr lang="en-GB" sz="1400" dirty="0">
                <a:solidFill>
                  <a:srgbClr val="CCCCCC"/>
                </a:solidFill>
              </a:rPr>
              <a:t>4. </a:t>
            </a:r>
            <a:r>
              <a:rPr lang="en-GB" sz="1400" b="0" dirty="0">
                <a:solidFill>
                  <a:srgbClr val="CCCCCC"/>
                </a:solidFill>
                <a:effectLst/>
              </a:rPr>
              <a:t>Return clean JSON only</a:t>
            </a:r>
          </a:p>
        </p:txBody>
      </p:sp>
    </p:spTree>
    <p:extLst>
      <p:ext uri="{BB962C8B-B14F-4D97-AF65-F5344CB8AC3E}">
        <p14:creationId xmlns:p14="http://schemas.microsoft.com/office/powerpoint/2010/main" val="3982389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13A4A-5F65-9D5F-41D5-89DCD9B53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MCP vs </a:t>
            </a:r>
            <a:r>
              <a:rPr lang="en-US" sz="3600" dirty="0" err="1">
                <a:latin typeface="+mn-lt"/>
              </a:rPr>
              <a:t>PlaywrightCLI</a:t>
            </a:r>
            <a:endParaRPr lang="en-US" sz="36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8231D0-C187-4663-0416-A9E7EB5541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514" b="9718"/>
          <a:stretch/>
        </p:blipFill>
        <p:spPr>
          <a:xfrm>
            <a:off x="327807" y="1498601"/>
            <a:ext cx="11536385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16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0B202C-DFEF-848F-EBD3-CEAA4D01F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998"/>
            <a:ext cx="12192000" cy="636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80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B15E6B4-BD2B-B057-8367-A16B28A71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0026" y="-76200"/>
            <a:ext cx="12910220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054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26FF-A908-D860-CBC8-96679030F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78FE7-129D-F8AB-C2B7-07A967BDF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https://playwright.dev/</a:t>
            </a:r>
            <a:endParaRPr lang="en-US" dirty="0"/>
          </a:p>
          <a:p>
            <a:r>
              <a:rPr lang="en-US" dirty="0">
                <a:hlinkClick r:id="rId3"/>
              </a:rPr>
              <a:t>https://playwright.dev/mcp/introduction</a:t>
            </a:r>
            <a:endParaRPr lang="en-US" dirty="0"/>
          </a:p>
          <a:p>
            <a:r>
              <a:rPr lang="en-US" dirty="0">
                <a:hlinkClick r:id="rId4"/>
              </a:rPr>
              <a:t>https://playwright.dev/agent-cli/introduction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682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344EB3-47CD-46EA-321C-2D5824CF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D7365-75F6-68FD-70E3-AA7EA41B4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06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908</TotalTime>
  <Words>339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AIQE</vt:lpstr>
      <vt:lpstr>4 Steps</vt:lpstr>
      <vt:lpstr>Explore</vt:lpstr>
      <vt:lpstr>Automate</vt:lpstr>
      <vt:lpstr>MCP  </vt:lpstr>
      <vt:lpstr>Playwright CLI</vt:lpstr>
      <vt:lpstr>Skill</vt:lpstr>
      <vt:lpstr>MCP vs PlaywrightCLI</vt:lpstr>
      <vt:lpstr>PowerPoint Presentation</vt:lpstr>
      <vt:lpstr>PowerPoint Presentation</vt:lpstr>
      <vt:lpstr>Links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QE</dc:title>
  <dc:creator>Rohan Patil</dc:creator>
  <cp:lastModifiedBy>Rohan Patil</cp:lastModifiedBy>
  <cp:revision>31</cp:revision>
  <dcterms:created xsi:type="dcterms:W3CDTF">2026-05-11T23:05:20Z</dcterms:created>
  <dcterms:modified xsi:type="dcterms:W3CDTF">2026-05-12T14:13:43Z</dcterms:modified>
</cp:coreProperties>
</file>